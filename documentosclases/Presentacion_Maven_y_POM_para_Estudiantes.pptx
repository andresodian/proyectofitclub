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B66"/>
                </a:solidFill>
              </a:rPr>
              <a:t>Maven y pom.xml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43000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6B7A"/>
                </a:solidFill>
              </a:rPr>
              <a:t>La forma simple de entender cómo Spring Boot descarga librerías, compila y ejecuta tu backend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2514600"/>
            <a:ext cx="9875520" cy="2331720"/>
          </a:xfrm>
          <a:prstGeom prst="roundRect">
            <a:avLst>
              <a:gd name="adj" fmla="val 3137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2889504"/>
            <a:ext cx="90525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Maven es el organizador del proyecto Java.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El archivo pom.xml es el contrato técnico del proyecto.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• Spring Boot usa Maven para traer dependencias y ejecutar comandos repetibles.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3400" y="5257800"/>
            <a:ext cx="3520440" cy="310896"/>
          </a:xfrm>
          <a:prstGeom prst="roundRect">
            <a:avLst>
              <a:gd name="adj" fmla="val 23529"/>
            </a:avLst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5326380"/>
            <a:ext cx="3374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Para estudiantes que empiezan backend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1. ¿Qué problema resuelve Maven?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Antes de Maven, cada programador debía gestionar manualmente librerías, versiones y compilación.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4A3A"/>
                </a:solidFill>
              </a:rPr>
              <a:t>Sin Maven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2651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Descargar .jar manualmente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Copiar librerías al proyecto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Pelear con versiones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Compilar distinto en cada PC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3291840"/>
            <a:ext cx="118872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23560" y="150876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8A70"/>
                </a:solidFill>
              </a:rPr>
              <a:t>Con Maven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897880" y="2331720"/>
            <a:ext cx="2651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Declaras dependencias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Maven las descarga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Compila igual para todos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Automatiza tareas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372600" y="205740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5548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Idea clave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82912" y="2834640"/>
            <a:ext cx="1664208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Maven hace que el proyecto sea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2. ¿Qué es el pom.xml?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POM significa Project Object Model. Es el archivo central de configuración de Maven.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&lt;project&gt;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&lt;groupId&gt;com.parkflow&lt;/groupId&gt;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&lt;artifactId&gt;parkflow-backend&lt;/artifactId&gt;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&lt;version&gt;0.0.1-SNAPSHOT&lt;/version&gt;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&lt;dependencies&gt;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&lt;/dependencies&gt;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&lt;/project&gt;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49834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6"/>
                </a:solidFill>
              </a:rPr>
              <a:t>El POM responde preguntas básicas: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84848" y="2304288"/>
            <a:ext cx="425196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¿Cómo se llama el proyecto?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¿A qué organización/grupo pertenece?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¿Qué versión tiene?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¿Qué librerías necesita?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¿Qué plugins ejecutan tareas?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¿Cómo se empaqueta?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3. Identidad del proyecto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groupId, artifactId y version identifican tu backend dentro de Maven.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636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463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56362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Ejemplo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563624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Significado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847088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920240"/>
            <a:ext cx="18653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groupId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1847088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1920240"/>
            <a:ext cx="27797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com.parkflow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1847088"/>
            <a:ext cx="5852160" cy="530352"/>
          </a:xfrm>
          <a:prstGeom prst="roundRect">
            <a:avLst>
              <a:gd name="adj" fmla="val 13793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920240"/>
            <a:ext cx="57058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Identidad del grupo, empresa o dominio lógico.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37744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450592"/>
            <a:ext cx="18653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artifactId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237744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2450592"/>
            <a:ext cx="27797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parkflow-backend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377440"/>
            <a:ext cx="5852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450592"/>
            <a:ext cx="57058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Nombre técnico del artefacto/proyecto.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907792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980944"/>
            <a:ext cx="18653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version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2907792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2980944"/>
            <a:ext cx="27797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0.0.1-SNAPSHOT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77840" y="2907792"/>
            <a:ext cx="5852160" cy="530352"/>
          </a:xfrm>
          <a:prstGeom prst="roundRect">
            <a:avLst>
              <a:gd name="adj" fmla="val 13793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2980944"/>
            <a:ext cx="57058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Versión actual; SNAPSHOT indica desarrollo.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05840" y="416052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E8F6F3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4416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70"/>
                </a:solidFill>
              </a:rPr>
              <a:t>Regla para tus proyectos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977640" y="4370832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</a:rPr>
              <a:t>Si tu proyecto asignado se llama BiblioSmart, puedes usar groupId com.bibliosmart y artifactId bibliosmart-backend. Lo importante es ser consistente.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4. Dependencias: las librerías del backend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En Spring Boot, casi todo entra como dependencia: Web, Validation, JPA, PostgreSQL, Test.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71500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5440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&lt;groupId&gt;org.springframework.boot&lt;/groupId&gt;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&lt;artifactId&gt;spring-boot-starter-web&lt;/artifactId&gt;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&lt;groupId&gt;org.springframework.boot&lt;/groupId&gt;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&lt;artifactId&gt;spring-boot-starter-validation&lt;/artifactId&gt;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1600200"/>
            <a:ext cx="44805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866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6"/>
                </a:solidFill>
              </a:rPr>
              <a:t>Cómo leerlo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14032" y="2423160"/>
            <a:ext cx="37490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• Cada dependency agrega una capacidad.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• starter-web permite crear API REST.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• starter-validation permite usar @Valid.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• Maven descarga todo desde repositorios remotos.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5. Starters de Spring Boot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Un starter agrupa muchas librerías compatibles para una tarea concreta.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264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Starter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3258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42646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¿Para qué sirve?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06840" y="132588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142646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Cuándo aparece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1709928"/>
            <a:ext cx="365760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83080"/>
            <a:ext cx="351129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spring-boot-starter-web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1709928"/>
            <a:ext cx="475488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1783080"/>
            <a:ext cx="46085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Crear endpoints REST con Spring MVC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1709928"/>
            <a:ext cx="260604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9992" y="1783080"/>
            <a:ext cx="24597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Capítulos 03-04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2194560"/>
            <a:ext cx="365760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267712"/>
            <a:ext cx="351129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spring-boot-starter-validation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2194560"/>
            <a:ext cx="475488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2267712"/>
            <a:ext cx="46085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Validar Request DTOs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06840" y="2194560"/>
            <a:ext cx="26060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2267712"/>
            <a:ext cx="24597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Capítulo 04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2679192"/>
            <a:ext cx="365760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752344"/>
            <a:ext cx="351129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spring-boot-starter-data-jpa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51960" y="2679192"/>
            <a:ext cx="475488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2752344"/>
            <a:ext cx="46085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Persistencia con JPA/Hibernate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06840" y="2679192"/>
            <a:ext cx="260604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9992" y="2752344"/>
            <a:ext cx="24597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Capítulo 05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3163824"/>
            <a:ext cx="365760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36976"/>
            <a:ext cx="351129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postgresql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51960" y="3163824"/>
            <a:ext cx="475488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3236976"/>
            <a:ext cx="46085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Driver JDBC para PostgreSQL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06840" y="3163824"/>
            <a:ext cx="26060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9992" y="3236976"/>
            <a:ext cx="24597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Capítulo 05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" y="3648456"/>
            <a:ext cx="365760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721608"/>
            <a:ext cx="351129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spring-boot-starter-test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51960" y="3648456"/>
            <a:ext cx="475488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3721608"/>
            <a:ext cx="46085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Pruebas automáticas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06840" y="3648456"/>
            <a:ext cx="2606040" cy="484632"/>
          </a:xfrm>
          <a:prstGeom prst="roundRect">
            <a:avLst>
              <a:gd name="adj" fmla="val 15094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79992" y="3721608"/>
            <a:ext cx="24597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Próximos capítulos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011680" y="5715000"/>
            <a:ext cx="8138160" cy="310896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5783580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 agregues dependencias al azar: cada dependencia debe tener propósito.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6. Plugins: tareas que Maven sabe ejecutar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Las dependencias son librerías. Los plugins son herramientas que ejecutan acciones.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46304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81912"/>
            <a:ext cx="4800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&lt;build&gt;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&lt;plugins&gt;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&lt;plugin&gt;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&lt;groupId&gt;org.springframework.boot&lt;/groupId&gt;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&lt;artifactId&gt;spring-boot-maven-plugin&lt;/artifactId&gt;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&lt;/plugin&gt;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&lt;/plugins&gt;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&lt;/build&gt;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46304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6"/>
                </a:solidFill>
              </a:rPr>
              <a:t>spring-boot-maven-plugin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76288" y="2377440"/>
            <a:ext cx="38862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Permite ejecutar la app con Maven.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Ayuda a empaquetar el backend como jar ejecutable.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Integra Maven con Spring Boot.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5166360"/>
            <a:ext cx="978408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5376672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7E22"/>
                </a:solidFill>
              </a:rPr>
              <a:t>Resumen: dependencias = lo que uso; plugins = tareas que ejecuto.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7. Ciclo de vida de Maven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Maven organiza tareas en fases. No tienes que inventar comandos raros.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EEF5FC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B66"/>
                </a:solidFill>
              </a:rPr>
              <a:t>validate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12848" y="2679192"/>
            <a:ext cx="23774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240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EEF5FC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B66"/>
                </a:solidFill>
              </a:rPr>
              <a:t>compile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041648" y="2679192"/>
            <a:ext cx="23774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2240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EEF5FC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B66"/>
                </a:solidFill>
              </a:rPr>
              <a:t>test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70448" y="2679192"/>
            <a:ext cx="23774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240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EEF5FC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B66"/>
                </a:solidFill>
              </a:rPr>
              <a:t>package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99248" y="2679192"/>
            <a:ext cx="23774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2240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38160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B66"/>
                </a:solidFill>
              </a:rPr>
              <a:t>verify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528048" y="2679192"/>
            <a:ext cx="23774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75520" y="2240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66960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B66"/>
                </a:solidFill>
              </a:rPr>
              <a:t>install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8680" y="3977640"/>
            <a:ext cx="10332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4224528"/>
            <a:ext cx="9829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mvn compile compila el código.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mvn test ejecuta pruebas.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mvn package crea el .jar.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mvn clean package limpia y reconstruye desde cero.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8. Comandos que sí debes dominar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Estos comandos son suficientes para comenzar con Spring Boot.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2646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Comando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699516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426464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Uso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170992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783080"/>
            <a:ext cx="3602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mvn clean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709928"/>
            <a:ext cx="6995160" cy="457200"/>
          </a:xfrm>
          <a:prstGeom prst="roundRect">
            <a:avLst>
              <a:gd name="adj" fmla="val 16000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783080"/>
            <a:ext cx="6848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Borra archivos generados previamente.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216712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240280"/>
            <a:ext cx="3602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mvn compile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2167128"/>
            <a:ext cx="6995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240280"/>
            <a:ext cx="6848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Compila el código fuente.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262432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697480"/>
            <a:ext cx="3602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mvn test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2624328"/>
            <a:ext cx="6995160" cy="457200"/>
          </a:xfrm>
          <a:prstGeom prst="roundRect">
            <a:avLst>
              <a:gd name="adj" fmla="val 16000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2697480"/>
            <a:ext cx="6848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Ejecuta las pruebas automáticas.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308152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154680"/>
            <a:ext cx="3602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mvn package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80560" y="3081528"/>
            <a:ext cx="6995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3154680"/>
            <a:ext cx="6848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Crea el artefacto .jar.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353872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611880"/>
            <a:ext cx="36027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mvn spring-boot:run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80560" y="3538728"/>
            <a:ext cx="6995160" cy="457200"/>
          </a:xfrm>
          <a:prstGeom prst="roundRect">
            <a:avLst>
              <a:gd name="adj" fmla="val 16000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3611880"/>
            <a:ext cx="6848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Levanta la aplicación Spring Boot.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400" y="5440680"/>
            <a:ext cx="1037844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559552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Ejecución típica durante desarrollo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spring-boot:run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Construcción limpia antes de entregar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package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9. Cómo se conecta Maven con IntelliJ IDEA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IntelliJ lee el pom.xml y sincroniza el proyecto automáticamente.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84832" y="16916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Tú editas pom.xml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Agregas o quitas dependencias.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3063240"/>
            <a:ext cx="10972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49240" y="141732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48272" y="16916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Maven sincroniza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23560" y="2743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Descarga librerías y actualiza el classpath.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32520" y="3063240"/>
            <a:ext cx="73152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46920" y="1417320"/>
            <a:ext cx="18288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405872" y="16916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57232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6"/>
                </a:solidFill>
              </a:rPr>
              <a:t>Tu app compila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02368" y="2743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Ya puedes importar clases y ejecutar.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48840" y="5440680"/>
            <a:ext cx="8001000" cy="310896"/>
          </a:xfrm>
          <a:prstGeom prst="roundRect">
            <a:avLst>
              <a:gd name="adj" fmla="val 23529"/>
            </a:avLst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1992" y="5509260"/>
            <a:ext cx="7854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 IntelliJ: cuando cambies el pom.xml, pulsa Reload Maven si no sincroniza solo.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10. Errores frecuentes al usar Maven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Estos errores son normales al inicio. Lo importante es saber diagnosticarlos.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2646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Error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3474720" y="1325880"/>
            <a:ext cx="425196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2646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Causa probable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7726680" y="1325880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426464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Solución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02920" y="1709928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783080"/>
            <a:ext cx="28254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No reconoce una clase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3474720" y="1709928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783080"/>
            <a:ext cx="4105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Dependencia no agregada o no sincronizada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726680" y="170992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1783080"/>
            <a:ext cx="3831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Revisar pom.xml y recargar Maven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02920" y="2212848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286000"/>
            <a:ext cx="28254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Versión incompatible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3474720" y="2212848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286000"/>
            <a:ext cx="4105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Dependencias mezcladas sin control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726680" y="221284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2286000"/>
            <a:ext cx="3831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Usar starters de Spring Boot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502920" y="2715768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2788920"/>
            <a:ext cx="28254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La app no arranca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3474720" y="2715768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788920"/>
            <a:ext cx="4105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Error en configuración o dependencia faltante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7726680" y="271576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9832" y="2788920"/>
            <a:ext cx="3831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Leer consola desde el primer error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502920" y="3218688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3291840"/>
            <a:ext cx="28254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El .jar no aparece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3474720" y="3218688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3291840"/>
            <a:ext cx="4105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No se ejecutó package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7726680" y="321868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3291840"/>
            <a:ext cx="3831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mvn clean package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502920" y="3721608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794760"/>
            <a:ext cx="28254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Funciona en una PC y otra no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3474720" y="3721608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3794760"/>
            <a:ext cx="4105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Proyecto no reproducible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7726680" y="372160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EEF5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9832" y="3794760"/>
            <a:ext cx="3831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F2937"/>
                </a:solidFill>
              </a:rPr>
              <a:t>No copiar librerías manuales; usar Maven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Programación Aplicada 2026-2 · Backend Spring Boot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66"/>
                </a:solidFill>
              </a:rPr>
              <a:t>11. Qué deben poder explicar en defensa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Maven no se aprende memorizando XML: se aprende entendiendo responsabilidades.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984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828800"/>
            <a:ext cx="98755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Qué problema resuelve Maven en un proyecto Java.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Qué es el pom.xml y por qué es tan importante.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Qué diferencia existe entre dependencia y plugin.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Qué hace spring-boot-starter-web.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Qué comando usar para compilar, probar, empaquetar y ejecutar.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• Por qué no se deben copiar librerías .jar manualmente.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828800" y="5870448"/>
            <a:ext cx="8595360" cy="310896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5939028"/>
            <a:ext cx="8449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Frase final: Maven hace que el backend sea construible, repetible y compartible.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Maven y pom.xml explicado simple</dc:title>
  <dc:subject>Maven y pom.xml</dc:subject>
  <dc:creator>OpenAI</dc:creator>
  <cp:lastModifiedBy>OpenAI</cp:lastModifiedBy>
  <cp:revision>1</cp:revision>
  <dcterms:created xsi:type="dcterms:W3CDTF">2026-08-21T18:23:03Z</dcterms:created>
  <dcterms:modified xsi:type="dcterms:W3CDTF">2026-08-21T18:23:03Z</dcterms:modified>
</cp:coreProperties>
</file>